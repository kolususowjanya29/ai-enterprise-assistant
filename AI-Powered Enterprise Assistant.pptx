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2095500" y="2213818"/>
            <a:ext cx="8001000" cy="1508521"/>
          </a:xfrm>
          <a:prstGeom prst="rect">
            <a:avLst/>
          </a:prstGeom>
          <a:noFill/>
        </p:spPr>
        <p:txBody>
          <a:bodyPr wrap="square" lIns="0" rIns="0" tIns="0" bIns="0" anchor="t">
            <a:spAutoFit/>
          </a:bodyPr>
          <a:lstStyle/>
          <a:p>
            <a:pPr algn="ctr">
              <a:lnSpc>
                <a:spcPts val="5940"/>
              </a:lnSpc>
            </a:pPr>
            <a:r>
              <a:rPr b="1" sz="5400" i="0" u="none">
                <a:solidFill>
                  <a:srgbClr val="F8FAFC"/>
                </a:solidFill>
                <a:latin typeface="Urbanist"/>
              </a:rPr>
              <a:t>AI-Powered </a:t>
            </a:r>
            <a:r>
              <a:t>
</a:t>
            </a:r>
            <a:r>
              <a:rPr b="1" sz="5400" i="0" u="none">
                <a:solidFill>
                  <a:srgbClr val="38BDF8"/>
                </a:solidFill>
                <a:latin typeface="Urbanist"/>
              </a:rPr>
              <a:t>Enterprise Assistant</a:t>
            </a:r>
          </a:p>
        </p:txBody>
      </p:sp>
      <p:sp>
        <p:nvSpPr>
          <p:cNvPr id="5" name="TextBox 4"/>
          <p:cNvSpPr txBox="1"/>
          <p:nvPr/>
        </p:nvSpPr>
        <p:spPr>
          <a:xfrm>
            <a:off x="2286000" y="3912840"/>
            <a:ext cx="7620000" cy="731341"/>
          </a:xfrm>
          <a:prstGeom prst="rect">
            <a:avLst/>
          </a:prstGeom>
          <a:noFill/>
        </p:spPr>
        <p:txBody>
          <a:bodyPr wrap="square" lIns="0" rIns="0" tIns="0" bIns="0" anchor="t">
            <a:spAutoFit/>
          </a:bodyPr>
          <a:lstStyle/>
          <a:p>
            <a:pPr algn="ctr">
              <a:lnSpc>
                <a:spcPts val="2879"/>
              </a:lnSpc>
            </a:pPr>
            <a:r>
              <a:rPr b="0" sz="1800" i="0" u="none">
                <a:solidFill>
                  <a:srgbClr val="64748B"/>
                </a:solidFill>
                <a:latin typeface="Urbanist"/>
              </a:rPr>
              <a:t>Revolutionizing Knowledge Retrieval through RAG and Natural Language SQL Querying.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524500" y="857250"/>
            <a:ext cx="1143000" cy="57150"/>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95275" y="1200150"/>
            <a:ext cx="11601450" cy="914400"/>
          </a:xfrm>
          <a:prstGeom prst="rect">
            <a:avLst/>
          </a:prstGeom>
          <a:noFill/>
        </p:spPr>
        <p:txBody>
          <a:bodyPr wrap="square" lIns="0" rIns="0" tIns="0" bIns="0" anchor="t">
            <a:spAutoFit/>
          </a:bodyPr>
          <a:lstStyle/>
          <a:p>
            <a:pPr algn="ctr"/>
            <a:r>
              <a:rPr b="1" sz="6000" i="0" u="none">
                <a:solidFill>
                  <a:srgbClr val="F8FAFC"/>
                </a:solidFill>
                <a:latin typeface="Urbanist"/>
              </a:rPr>
              <a:t>The Core Challenge</a:t>
            </a:r>
          </a:p>
        </p:txBody>
      </p:sp>
      <p:sp>
        <p:nvSpPr>
          <p:cNvPr id="5" name="TextBox 4"/>
          <p:cNvSpPr txBox="1"/>
          <p:nvPr/>
        </p:nvSpPr>
        <p:spPr>
          <a:xfrm>
            <a:off x="2286000" y="2114550"/>
            <a:ext cx="7620000" cy="365670"/>
          </a:xfrm>
          <a:prstGeom prst="rect">
            <a:avLst/>
          </a:prstGeom>
          <a:noFill/>
        </p:spPr>
        <p:txBody>
          <a:bodyPr wrap="square" lIns="0" rIns="0" tIns="0" bIns="0" anchor="t">
            <a:spAutoFit/>
          </a:bodyPr>
          <a:lstStyle/>
          <a:p>
            <a:pPr algn="ctr">
              <a:lnSpc>
                <a:spcPts val="2879"/>
              </a:lnSpc>
            </a:pPr>
            <a:r>
              <a:rPr b="0" sz="1800" i="0" u="none">
                <a:solidFill>
                  <a:srgbClr val="64748B"/>
                </a:solidFill>
                <a:latin typeface="Urbanist"/>
              </a:rPr>
              <a:t>Information Silos in Modern Enterprises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717452"/>
            <a:ext cx="5238750" cy="2289720"/>
          </a:xfrm>
          <a:prstGeom prst="rect">
            <a:avLst/>
          </a:prstGeom>
        </p:spPr>
      </p:pic>
      <p:pic>
        <p:nvPicPr>
          <p:cNvPr id="4" name="Picture 3" descr="image.png"/>
          <p:cNvPicPr>
            <a:picLocks noChangeAspect="1"/>
          </p:cNvPicPr>
          <p:nvPr/>
        </p:nvPicPr>
        <p:blipFill>
          <a:blip r:embed="rId3"/>
          <a:stretch>
            <a:fillRect/>
          </a:stretch>
        </p:blipFill>
        <p:spPr>
          <a:xfrm>
            <a:off x="6381750" y="2717452"/>
            <a:ext cx="5238750" cy="2289720"/>
          </a:xfrm>
          <a:prstGeom prst="rect">
            <a:avLst/>
          </a:prstGeom>
        </p:spPr>
      </p:pic>
      <p:sp>
        <p:nvSpPr>
          <p:cNvPr id="5" name="TextBox 4"/>
          <p:cNvSpPr txBox="1"/>
          <p:nvPr/>
        </p:nvSpPr>
        <p:spPr>
          <a:xfrm>
            <a:off x="962025" y="3107977"/>
            <a:ext cx="4680585" cy="323850"/>
          </a:xfrm>
          <a:prstGeom prst="rect">
            <a:avLst/>
          </a:prstGeom>
          <a:noFill/>
        </p:spPr>
        <p:txBody>
          <a:bodyPr wrap="square" lIns="0" rIns="0" tIns="0" bIns="0" anchor="t">
            <a:spAutoFit/>
          </a:bodyPr>
          <a:lstStyle/>
          <a:p>
            <a:pPr algn="l"/>
            <a:r>
              <a:rPr b="1" sz="2100" i="0" u="none">
                <a:solidFill>
                  <a:srgbClr val="F1F5F9"/>
                </a:solidFill>
                <a:latin typeface="Urbanist"/>
              </a:rPr>
              <a:t>Static Documentation</a:t>
            </a:r>
          </a:p>
        </p:txBody>
      </p:sp>
      <p:sp>
        <p:nvSpPr>
          <p:cNvPr id="6" name="TextBox 5"/>
          <p:cNvSpPr txBox="1"/>
          <p:nvPr/>
        </p:nvSpPr>
        <p:spPr>
          <a:xfrm>
            <a:off x="962025" y="3622327"/>
            <a:ext cx="4457700" cy="82287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Knowledge is locked in millions of PDFs, scanned images, and internal reports. Manual retrieval is slow, error-prone, and lacks context-aware intelligence.</a:t>
            </a:r>
          </a:p>
        </p:txBody>
      </p:sp>
      <p:sp>
        <p:nvSpPr>
          <p:cNvPr id="7" name="TextBox 6"/>
          <p:cNvSpPr txBox="1"/>
          <p:nvPr/>
        </p:nvSpPr>
        <p:spPr>
          <a:xfrm>
            <a:off x="6772275" y="3107977"/>
            <a:ext cx="4680585" cy="323850"/>
          </a:xfrm>
          <a:prstGeom prst="rect">
            <a:avLst/>
          </a:prstGeom>
          <a:noFill/>
        </p:spPr>
        <p:txBody>
          <a:bodyPr wrap="square" lIns="0" rIns="0" tIns="0" bIns="0" anchor="t">
            <a:spAutoFit/>
          </a:bodyPr>
          <a:lstStyle/>
          <a:p>
            <a:pPr algn="l"/>
            <a:r>
              <a:rPr b="1" sz="2100" i="0" u="none">
                <a:solidFill>
                  <a:srgbClr val="F1F5F9"/>
                </a:solidFill>
                <a:latin typeface="Urbanist"/>
              </a:rPr>
              <a:t>Complex Databases</a:t>
            </a:r>
          </a:p>
        </p:txBody>
      </p:sp>
      <p:sp>
        <p:nvSpPr>
          <p:cNvPr id="8" name="TextBox 7"/>
          <p:cNvSpPr txBox="1"/>
          <p:nvPr/>
        </p:nvSpPr>
        <p:spPr>
          <a:xfrm>
            <a:off x="6772275" y="3622327"/>
            <a:ext cx="4457700" cy="82287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Relational databases require technical expertise (SQL) to query. Non-technical decision makers are often blocked by engineering bottlenecks.</a:t>
            </a:r>
          </a:p>
        </p:txBody>
      </p:sp>
      <p:sp>
        <p:nvSpPr>
          <p:cNvPr id="9" name="TextBox 8"/>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UNSTRUCTURED VS STRUCTURED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170807"/>
            <a:ext cx="5238750" cy="3383012"/>
          </a:xfrm>
          <a:prstGeom prst="rect">
            <a:avLst/>
          </a:prstGeom>
        </p:spPr>
      </p:pic>
      <p:sp>
        <p:nvSpPr>
          <p:cNvPr id="4" name="TextBox 3"/>
          <p:cNvSpPr txBox="1"/>
          <p:nvPr/>
        </p:nvSpPr>
        <p:spPr>
          <a:xfrm>
            <a:off x="571500" y="2342257"/>
            <a:ext cx="5238750" cy="82287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Our platform bridges the gap by providing a single interface to query both document repositories and structured databases using natural language.</a:t>
            </a:r>
          </a:p>
        </p:txBody>
      </p:sp>
      <p:pic>
        <p:nvPicPr>
          <p:cNvPr id="5" name="Picture 4" descr="image.png"/>
          <p:cNvPicPr>
            <a:picLocks noChangeAspect="1"/>
          </p:cNvPicPr>
          <p:nvPr/>
        </p:nvPicPr>
        <p:blipFill>
          <a:blip r:embed="rId4"/>
          <a:stretch>
            <a:fillRect/>
          </a:stretch>
        </p:blipFill>
        <p:spPr>
          <a:xfrm>
            <a:off x="6391275" y="2180332"/>
            <a:ext cx="1095375" cy="180975"/>
          </a:xfrm>
          <a:prstGeom prst="rect">
            <a:avLst/>
          </a:prstGeom>
        </p:spPr>
      </p:pic>
      <p:sp>
        <p:nvSpPr>
          <p:cNvPr id="6" name="TextBox 5"/>
          <p:cNvSpPr txBox="1"/>
          <p:nvPr/>
        </p:nvSpPr>
        <p:spPr>
          <a:xfrm>
            <a:off x="952500" y="3336577"/>
            <a:ext cx="4857750" cy="548580"/>
          </a:xfrm>
          <a:prstGeom prst="rect">
            <a:avLst/>
          </a:prstGeom>
          <a:noFill/>
        </p:spPr>
        <p:txBody>
          <a:bodyPr wrap="square" lIns="0" rIns="0" tIns="0" bIns="0" anchor="t">
            <a:spAutoFit/>
          </a:bodyPr>
          <a:lstStyle/>
          <a:p>
            <a:pPr algn="l">
              <a:lnSpc>
                <a:spcPts val="2160"/>
              </a:lnSpc>
            </a:pPr>
            <a:r>
              <a:rPr b="1" sz="1350" i="0" u="none">
                <a:solidFill>
                  <a:srgbClr val="94A3B8"/>
                </a:solidFill>
                <a:latin typeface="Urbanist"/>
              </a:rPr>
              <a:t>Retrieval Augmented Generation:</a:t>
            </a:r>
            <a:r>
              <a:rPr b="0" sz="1350" i="0" u="none">
                <a:solidFill>
                  <a:srgbClr val="94A3B8"/>
                </a:solidFill>
                <a:latin typeface="Urbanist"/>
              </a:rPr>
              <a:t> Real-time context grounding for accuracy.</a:t>
            </a:r>
          </a:p>
        </p:txBody>
      </p:sp>
      <p:sp>
        <p:nvSpPr>
          <p:cNvPr id="7" name="TextBox 6"/>
          <p:cNvSpPr txBox="1"/>
          <p:nvPr/>
        </p:nvSpPr>
        <p:spPr>
          <a:xfrm>
            <a:off x="952500" y="4075658"/>
            <a:ext cx="4857750" cy="548580"/>
          </a:xfrm>
          <a:prstGeom prst="rect">
            <a:avLst/>
          </a:prstGeom>
          <a:noFill/>
        </p:spPr>
        <p:txBody>
          <a:bodyPr wrap="square" lIns="0" rIns="0" tIns="0" bIns="0" anchor="t">
            <a:spAutoFit/>
          </a:bodyPr>
          <a:lstStyle/>
          <a:p>
            <a:pPr algn="l">
              <a:lnSpc>
                <a:spcPts val="2160"/>
              </a:lnSpc>
            </a:pPr>
            <a:r>
              <a:rPr b="1" sz="1350" i="0" u="none">
                <a:solidFill>
                  <a:srgbClr val="94A3B8"/>
                </a:solidFill>
                <a:latin typeface="Urbanist"/>
              </a:rPr>
              <a:t>AI SQL Agent:</a:t>
            </a:r>
            <a:r>
              <a:rPr b="0" sz="1350" i="0" u="none">
                <a:solidFill>
                  <a:srgbClr val="94A3B8"/>
                </a:solidFill>
                <a:latin typeface="Urbanist"/>
              </a:rPr>
              <a:t> Zero-shot translation of prompts into safe database queries.</a:t>
            </a:r>
          </a:p>
        </p:txBody>
      </p:sp>
      <p:sp>
        <p:nvSpPr>
          <p:cNvPr id="8" name="TextBox 7"/>
          <p:cNvSpPr txBox="1"/>
          <p:nvPr/>
        </p:nvSpPr>
        <p:spPr>
          <a:xfrm>
            <a:off x="952500" y="4814738"/>
            <a:ext cx="4857750" cy="548580"/>
          </a:xfrm>
          <a:prstGeom prst="rect">
            <a:avLst/>
          </a:prstGeom>
          <a:noFill/>
        </p:spPr>
        <p:txBody>
          <a:bodyPr wrap="square" lIns="0" rIns="0" tIns="0" bIns="0" anchor="t">
            <a:spAutoFit/>
          </a:bodyPr>
          <a:lstStyle/>
          <a:p>
            <a:pPr algn="l">
              <a:lnSpc>
                <a:spcPts val="2160"/>
              </a:lnSpc>
            </a:pPr>
            <a:r>
              <a:rPr b="1" sz="1350" i="0" u="none">
                <a:solidFill>
                  <a:srgbClr val="94A3B8"/>
                </a:solidFill>
                <a:latin typeface="Urbanist"/>
              </a:rPr>
              <a:t>OCR Integration:</a:t>
            </a:r>
            <a:r>
              <a:rPr b="0" sz="1350" i="0" u="none">
                <a:solidFill>
                  <a:srgbClr val="94A3B8"/>
                </a:solidFill>
                <a:latin typeface="Urbanist"/>
              </a:rPr>
              <a:t> Processing handwritten and scanned documents with precision.</a:t>
            </a:r>
          </a:p>
        </p:txBody>
      </p:sp>
      <p:sp>
        <p:nvSpPr>
          <p:cNvPr id="9" name="TextBox 8"/>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THE UNIFIED SOLUTION</a:t>
            </a:r>
          </a:p>
        </p:txBody>
      </p:sp>
      <p:pic>
        <p:nvPicPr>
          <p:cNvPr id="10" name="Picture 9" descr="image.png"/>
          <p:cNvPicPr>
            <a:picLocks noChangeAspect="1"/>
          </p:cNvPicPr>
          <p:nvPr/>
        </p:nvPicPr>
        <p:blipFill>
          <a:blip r:embed="rId5"/>
          <a:stretch>
            <a:fillRect/>
          </a:stretch>
        </p:blipFill>
        <p:spPr>
          <a:xfrm>
            <a:off x="571500" y="3336577"/>
            <a:ext cx="171450" cy="180975"/>
          </a:xfrm>
          <a:prstGeom prst="rect">
            <a:avLst/>
          </a:prstGeom>
        </p:spPr>
      </p:pic>
      <p:pic>
        <p:nvPicPr>
          <p:cNvPr id="11" name="Picture 10" descr="image.png"/>
          <p:cNvPicPr>
            <a:picLocks noChangeAspect="1"/>
          </p:cNvPicPr>
          <p:nvPr/>
        </p:nvPicPr>
        <p:blipFill>
          <a:blip r:embed="rId5"/>
          <a:stretch>
            <a:fillRect/>
          </a:stretch>
        </p:blipFill>
        <p:spPr>
          <a:xfrm>
            <a:off x="571500" y="4075658"/>
            <a:ext cx="171450" cy="180975"/>
          </a:xfrm>
          <a:prstGeom prst="rect">
            <a:avLst/>
          </a:prstGeom>
        </p:spPr>
      </p:pic>
      <p:pic>
        <p:nvPicPr>
          <p:cNvPr id="12" name="Picture 11" descr="image.png"/>
          <p:cNvPicPr>
            <a:picLocks noChangeAspect="1"/>
          </p:cNvPicPr>
          <p:nvPr/>
        </p:nvPicPr>
        <p:blipFill>
          <a:blip r:embed="rId5"/>
          <a:stretch>
            <a:fillRect/>
          </a:stretch>
        </p:blipFill>
        <p:spPr>
          <a:xfrm>
            <a:off x="571500" y="4814738"/>
            <a:ext cx="171450" cy="18097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479327"/>
            <a:ext cx="3492549" cy="2765970"/>
          </a:xfrm>
          <a:prstGeom prst="rect">
            <a:avLst/>
          </a:prstGeom>
        </p:spPr>
      </p:pic>
      <p:pic>
        <p:nvPicPr>
          <p:cNvPr id="4" name="Picture 3" descr="image.png"/>
          <p:cNvPicPr>
            <a:picLocks noChangeAspect="1"/>
          </p:cNvPicPr>
          <p:nvPr/>
        </p:nvPicPr>
        <p:blipFill>
          <a:blip r:embed="rId4"/>
          <a:stretch>
            <a:fillRect/>
          </a:stretch>
        </p:blipFill>
        <p:spPr>
          <a:xfrm>
            <a:off x="4349799" y="2479327"/>
            <a:ext cx="3492549" cy="2765970"/>
          </a:xfrm>
          <a:prstGeom prst="rect">
            <a:avLst/>
          </a:prstGeom>
        </p:spPr>
      </p:pic>
      <p:pic>
        <p:nvPicPr>
          <p:cNvPr id="5" name="Picture 4" descr="image.png"/>
          <p:cNvPicPr>
            <a:picLocks noChangeAspect="1"/>
          </p:cNvPicPr>
          <p:nvPr/>
        </p:nvPicPr>
        <p:blipFill>
          <a:blip r:embed="rId5"/>
          <a:stretch>
            <a:fillRect/>
          </a:stretch>
        </p:blipFill>
        <p:spPr>
          <a:xfrm>
            <a:off x="8128099" y="2479327"/>
            <a:ext cx="3492549" cy="2765970"/>
          </a:xfrm>
          <a:prstGeom prst="rect">
            <a:avLst/>
          </a:prstGeom>
        </p:spPr>
      </p:pic>
      <p:sp>
        <p:nvSpPr>
          <p:cNvPr id="6" name="TextBox 5"/>
          <p:cNvSpPr txBox="1"/>
          <p:nvPr/>
        </p:nvSpPr>
        <p:spPr>
          <a:xfrm>
            <a:off x="844231" y="3517552"/>
            <a:ext cx="2947087" cy="219075"/>
          </a:xfrm>
          <a:prstGeom prst="rect">
            <a:avLst/>
          </a:prstGeom>
          <a:noFill/>
        </p:spPr>
        <p:txBody>
          <a:bodyPr wrap="square" lIns="0" rIns="0" tIns="0" bIns="0" anchor="t">
            <a:spAutoFit/>
          </a:bodyPr>
          <a:lstStyle/>
          <a:p>
            <a:pPr algn="ctr"/>
            <a:r>
              <a:rPr b="1" sz="1404" i="0" u="none">
                <a:solidFill>
                  <a:srgbClr val="F8FAFC"/>
                </a:solidFill>
                <a:latin typeface="Urbanist"/>
              </a:rPr>
              <a:t>Advanced RAG</a:t>
            </a:r>
          </a:p>
        </p:txBody>
      </p:sp>
      <p:sp>
        <p:nvSpPr>
          <p:cNvPr id="7" name="TextBox 6"/>
          <p:cNvSpPr txBox="1"/>
          <p:nvPr/>
        </p:nvSpPr>
        <p:spPr>
          <a:xfrm>
            <a:off x="914400" y="3908077"/>
            <a:ext cx="2806749" cy="82287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Contextual embedding and semantic search using vector databases for unstructured data.</a:t>
            </a:r>
          </a:p>
        </p:txBody>
      </p:sp>
      <p:sp>
        <p:nvSpPr>
          <p:cNvPr id="8" name="TextBox 7"/>
          <p:cNvSpPr txBox="1"/>
          <p:nvPr/>
        </p:nvSpPr>
        <p:spPr>
          <a:xfrm>
            <a:off x="4622530" y="3517552"/>
            <a:ext cx="2947087" cy="219075"/>
          </a:xfrm>
          <a:prstGeom prst="rect">
            <a:avLst/>
          </a:prstGeom>
          <a:noFill/>
        </p:spPr>
        <p:txBody>
          <a:bodyPr wrap="square" lIns="0" rIns="0" tIns="0" bIns="0" anchor="t">
            <a:spAutoFit/>
          </a:bodyPr>
          <a:lstStyle/>
          <a:p>
            <a:pPr algn="ctr"/>
            <a:r>
              <a:rPr b="1" sz="1404" i="0" u="none">
                <a:solidFill>
                  <a:srgbClr val="F8FAFC"/>
                </a:solidFill>
                <a:latin typeface="Urbanist"/>
              </a:rPr>
              <a:t>SQL Automation</a:t>
            </a:r>
          </a:p>
        </p:txBody>
      </p:sp>
      <p:sp>
        <p:nvSpPr>
          <p:cNvPr id="9" name="TextBox 8"/>
          <p:cNvSpPr txBox="1"/>
          <p:nvPr/>
        </p:nvSpPr>
        <p:spPr>
          <a:xfrm>
            <a:off x="4692699" y="3908077"/>
            <a:ext cx="2806749" cy="82287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Safe execution of read-only SQL queries generated dynamically by LLM agents.</a:t>
            </a:r>
          </a:p>
        </p:txBody>
      </p:sp>
      <p:sp>
        <p:nvSpPr>
          <p:cNvPr id="10" name="TextBox 9"/>
          <p:cNvSpPr txBox="1"/>
          <p:nvPr/>
        </p:nvSpPr>
        <p:spPr>
          <a:xfrm>
            <a:off x="8400830" y="3517552"/>
            <a:ext cx="2947087" cy="219075"/>
          </a:xfrm>
          <a:prstGeom prst="rect">
            <a:avLst/>
          </a:prstGeom>
          <a:noFill/>
        </p:spPr>
        <p:txBody>
          <a:bodyPr wrap="square" lIns="0" rIns="0" tIns="0" bIns="0" anchor="t">
            <a:spAutoFit/>
          </a:bodyPr>
          <a:lstStyle/>
          <a:p>
            <a:pPr algn="ctr"/>
            <a:r>
              <a:rPr b="1" sz="1404" i="0" u="none">
                <a:solidFill>
                  <a:srgbClr val="F8FAFC"/>
                </a:solidFill>
                <a:latin typeface="Urbanist"/>
              </a:rPr>
              <a:t>OCR &amp; Vision</a:t>
            </a:r>
          </a:p>
        </p:txBody>
      </p:sp>
      <p:sp>
        <p:nvSpPr>
          <p:cNvPr id="11" name="TextBox 10"/>
          <p:cNvSpPr txBox="1"/>
          <p:nvPr/>
        </p:nvSpPr>
        <p:spPr>
          <a:xfrm>
            <a:off x="8470999" y="3908077"/>
            <a:ext cx="2806749" cy="82287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Extracting high-fidelity text from images and complex document layouts.</a:t>
            </a:r>
          </a:p>
        </p:txBody>
      </p:sp>
      <p:pic>
        <p:nvPicPr>
          <p:cNvPr id="12" name="Picture 11" descr="image.png"/>
          <p:cNvPicPr>
            <a:picLocks noChangeAspect="1"/>
          </p:cNvPicPr>
          <p:nvPr/>
        </p:nvPicPr>
        <p:blipFill>
          <a:blip r:embed="rId6"/>
          <a:stretch>
            <a:fillRect/>
          </a:stretch>
        </p:blipFill>
        <p:spPr>
          <a:xfrm>
            <a:off x="2127200" y="2850802"/>
            <a:ext cx="381000" cy="381000"/>
          </a:xfrm>
          <a:prstGeom prst="rect">
            <a:avLst/>
          </a:prstGeom>
        </p:spPr>
      </p:pic>
      <p:pic>
        <p:nvPicPr>
          <p:cNvPr id="13" name="Picture 12" descr="image.png"/>
          <p:cNvPicPr>
            <a:picLocks noChangeAspect="1"/>
          </p:cNvPicPr>
          <p:nvPr/>
        </p:nvPicPr>
        <p:blipFill>
          <a:blip r:embed="rId7"/>
          <a:stretch>
            <a:fillRect/>
          </a:stretch>
        </p:blipFill>
        <p:spPr>
          <a:xfrm>
            <a:off x="5929312" y="2850802"/>
            <a:ext cx="333375" cy="381000"/>
          </a:xfrm>
          <a:prstGeom prst="rect">
            <a:avLst/>
          </a:prstGeom>
        </p:spPr>
      </p:pic>
      <p:pic>
        <p:nvPicPr>
          <p:cNvPr id="14" name="Picture 13" descr="image.png"/>
          <p:cNvPicPr>
            <a:picLocks noChangeAspect="1"/>
          </p:cNvPicPr>
          <p:nvPr/>
        </p:nvPicPr>
        <p:blipFill>
          <a:blip r:embed="rId8"/>
          <a:stretch>
            <a:fillRect/>
          </a:stretch>
        </p:blipFill>
        <p:spPr>
          <a:xfrm>
            <a:off x="9683799" y="2850802"/>
            <a:ext cx="381000" cy="381000"/>
          </a:xfrm>
          <a:prstGeom prst="rect">
            <a:avLst/>
          </a:prstGeom>
        </p:spPr>
      </p:pic>
      <p:sp>
        <p:nvSpPr>
          <p:cNvPr id="15" name="TextBox 14"/>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PLATFORM CAPABILITIES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762000" y="2710755"/>
            <a:ext cx="5334000" cy="587424"/>
          </a:xfrm>
          <a:prstGeom prst="rect">
            <a:avLst/>
          </a:prstGeom>
        </p:spPr>
      </p:pic>
      <p:sp>
        <p:nvSpPr>
          <p:cNvPr id="4" name="TextBox 3"/>
          <p:cNvSpPr txBox="1"/>
          <p:nvPr/>
        </p:nvSpPr>
        <p:spPr>
          <a:xfrm>
            <a:off x="762000" y="762000"/>
            <a:ext cx="5600700" cy="485775"/>
          </a:xfrm>
          <a:prstGeom prst="rect">
            <a:avLst/>
          </a:prstGeom>
          <a:noFill/>
        </p:spPr>
        <p:txBody>
          <a:bodyPr wrap="square" lIns="0" rIns="0" tIns="0" bIns="0" anchor="t">
            <a:spAutoFit/>
          </a:bodyPr>
          <a:lstStyle/>
          <a:p>
            <a:pPr algn="l"/>
            <a:r>
              <a:rPr b="0" sz="3150" i="0" u="none">
                <a:solidFill>
                  <a:srgbClr val="38BDF8"/>
                </a:solidFill>
                <a:latin typeface="Urbanist Medium"/>
              </a:rPr>
              <a:t>SYSTEM ARCHITECTURE</a:t>
            </a:r>
          </a:p>
        </p:txBody>
      </p:sp>
      <p:pic>
        <p:nvPicPr>
          <p:cNvPr id="5" name="Picture 4" descr="image.png"/>
          <p:cNvPicPr>
            <a:picLocks noChangeAspect="1"/>
          </p:cNvPicPr>
          <p:nvPr/>
        </p:nvPicPr>
        <p:blipFill>
          <a:blip r:embed="rId4"/>
          <a:stretch>
            <a:fillRect/>
          </a:stretch>
        </p:blipFill>
        <p:spPr>
          <a:xfrm>
            <a:off x="6096000" y="0"/>
            <a:ext cx="6096000" cy="6858000"/>
          </a:xfrm>
          <a:prstGeom prst="rect">
            <a:avLst/>
          </a:prstGeom>
        </p:spPr>
      </p:pic>
      <p:sp>
        <p:nvSpPr>
          <p:cNvPr id="6" name="TextBox 5"/>
          <p:cNvSpPr txBox="1"/>
          <p:nvPr/>
        </p:nvSpPr>
        <p:spPr>
          <a:xfrm>
            <a:off x="762000" y="1800225"/>
            <a:ext cx="5334000" cy="54858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Our architecture utilizes a LangChain-powered orchestrator to route user queries between Vector Stores and Relational DBs.</a:t>
            </a:r>
          </a:p>
        </p:txBody>
      </p:sp>
      <p:sp>
        <p:nvSpPr>
          <p:cNvPr id="7" name="TextBox 6"/>
          <p:cNvSpPr txBox="1"/>
          <p:nvPr/>
        </p:nvSpPr>
        <p:spPr>
          <a:xfrm>
            <a:off x="762000" y="3488680"/>
            <a:ext cx="5334000" cy="54858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The system ensures that responses are grounded in factual enterprise data, reducing LLM hallucinations to near zero.</a:t>
            </a:r>
          </a:p>
        </p:txBody>
      </p:sp>
      <p:pic>
        <p:nvPicPr>
          <p:cNvPr id="8" name="Picture 7" descr="image.png"/>
          <p:cNvPicPr>
            <a:picLocks noChangeAspect="1"/>
          </p:cNvPicPr>
          <p:nvPr/>
        </p:nvPicPr>
        <p:blipFill>
          <a:blip r:embed="rId5"/>
          <a:stretch>
            <a:fillRect/>
          </a:stretch>
        </p:blipFill>
        <p:spPr>
          <a:xfrm>
            <a:off x="952500" y="2901255"/>
            <a:ext cx="4953000" cy="206424"/>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38275"/>
            <a:ext cx="11049000" cy="4848225"/>
          </a:xfrm>
          <a:prstGeom prst="rect">
            <a:avLst/>
          </a:prstGeom>
        </p:spPr>
      </p:pic>
      <p:sp>
        <p:nvSpPr>
          <p:cNvPr id="4" name="TextBox 3"/>
          <p:cNvSpPr txBox="1"/>
          <p:nvPr/>
        </p:nvSpPr>
        <p:spPr>
          <a:xfrm>
            <a:off x="571500" y="5449192"/>
            <a:ext cx="11049000" cy="274290"/>
          </a:xfrm>
          <a:prstGeom prst="rect">
            <a:avLst/>
          </a:prstGeom>
          <a:noFill/>
        </p:spPr>
        <p:txBody>
          <a:bodyPr wrap="square" lIns="0" rIns="0" tIns="0" bIns="0" anchor="t">
            <a:spAutoFit/>
          </a:bodyPr>
          <a:lstStyle/>
          <a:p>
            <a:pPr algn="ctr">
              <a:lnSpc>
                <a:spcPts val="2160"/>
              </a:lnSpc>
            </a:pPr>
            <a:r>
              <a:rPr b="0" sz="1350" i="1" u="none">
                <a:solidFill>
                  <a:srgbClr val="94A3B8"/>
                </a:solidFill>
                <a:latin typeface="Urbanist"/>
              </a:rPr>
              <a:t>Continuous fine-tuning and agentic routing have improved system accuracy to 98.5% over a 6-month evaluation period.</a:t>
            </a:r>
          </a:p>
        </p:txBody>
      </p:sp>
      <p:sp>
        <p:nvSpPr>
          <p:cNvPr id="5" name="TextBox 4"/>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RETRIEVAL ACCURACY TRENDS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81750" y="2365027"/>
            <a:ext cx="5238750" cy="2994719"/>
          </a:xfrm>
          <a:prstGeom prst="rect">
            <a:avLst/>
          </a:prstGeom>
        </p:spPr>
      </p:pic>
      <p:sp>
        <p:nvSpPr>
          <p:cNvPr id="4" name="TextBox 3"/>
          <p:cNvSpPr txBox="1"/>
          <p:nvPr/>
        </p:nvSpPr>
        <p:spPr>
          <a:xfrm>
            <a:off x="571500" y="2365027"/>
            <a:ext cx="5500687" cy="323850"/>
          </a:xfrm>
          <a:prstGeom prst="rect">
            <a:avLst/>
          </a:prstGeom>
          <a:noFill/>
        </p:spPr>
        <p:txBody>
          <a:bodyPr wrap="square" lIns="0" rIns="0" tIns="0" bIns="0" anchor="t">
            <a:spAutoFit/>
          </a:bodyPr>
          <a:lstStyle/>
          <a:p>
            <a:pPr algn="l"/>
            <a:r>
              <a:rPr b="1" sz="2100" i="0" u="none">
                <a:solidFill>
                  <a:srgbClr val="F1F5F9"/>
                </a:solidFill>
                <a:latin typeface="Urbanist"/>
              </a:rPr>
              <a:t>Zero-Trust Data Access</a:t>
            </a:r>
          </a:p>
        </p:txBody>
      </p:sp>
      <p:sp>
        <p:nvSpPr>
          <p:cNvPr id="5" name="TextBox 4"/>
          <p:cNvSpPr txBox="1"/>
          <p:nvPr/>
        </p:nvSpPr>
        <p:spPr>
          <a:xfrm>
            <a:off x="571500" y="2879377"/>
            <a:ext cx="5238750" cy="54858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The SQL Agent converts high-level business questions directly into queries, shielding the actual database schema from end-users.</a:t>
            </a:r>
          </a:p>
        </p:txBody>
      </p:sp>
      <p:pic>
        <p:nvPicPr>
          <p:cNvPr id="6" name="Picture 5" descr="image.png"/>
          <p:cNvPicPr>
            <a:picLocks noChangeAspect="1"/>
          </p:cNvPicPr>
          <p:nvPr/>
        </p:nvPicPr>
        <p:blipFill>
          <a:blip r:embed="rId4"/>
          <a:stretch>
            <a:fillRect/>
          </a:stretch>
        </p:blipFill>
        <p:spPr>
          <a:xfrm>
            <a:off x="6391275" y="2374552"/>
            <a:ext cx="5219700" cy="2975669"/>
          </a:xfrm>
          <a:prstGeom prst="rect">
            <a:avLst/>
          </a:prstGeom>
        </p:spPr>
      </p:pic>
      <p:sp>
        <p:nvSpPr>
          <p:cNvPr id="7" name="TextBox 6"/>
          <p:cNvSpPr txBox="1"/>
          <p:nvPr/>
        </p:nvSpPr>
        <p:spPr>
          <a:xfrm>
            <a:off x="923925" y="3617505"/>
            <a:ext cx="28575" cy="276225"/>
          </a:xfrm>
          <a:prstGeom prst="rect">
            <a:avLst/>
          </a:prstGeom>
          <a:noFill/>
        </p:spPr>
        <p:txBody>
          <a:bodyPr wrap="square" lIns="0" rIns="0" tIns="0" bIns="0" anchor="t">
            <a:spAutoFit/>
          </a:bodyPr>
          <a:lstStyle/>
          <a:p>
            <a:pPr algn="l"/>
            <a:r>
              <a:rPr b="0" sz="1350" i="0" u="none">
                <a:solidFill>
                  <a:srgbClr val="94A3B8"/>
                </a:solidFill>
                <a:latin typeface="Urbanist"/>
              </a:rPr>
              <a:t>•</a:t>
            </a:r>
          </a:p>
        </p:txBody>
      </p:sp>
      <p:sp>
        <p:nvSpPr>
          <p:cNvPr id="8" name="TextBox 7"/>
          <p:cNvSpPr txBox="1"/>
          <p:nvPr/>
        </p:nvSpPr>
        <p:spPr>
          <a:xfrm>
            <a:off x="952500" y="3618458"/>
            <a:ext cx="4857750" cy="274290"/>
          </a:xfrm>
          <a:prstGeom prst="rect">
            <a:avLst/>
          </a:prstGeom>
          <a:noFill/>
        </p:spPr>
        <p:txBody>
          <a:bodyPr wrap="square" lIns="28575" rIns="0" tIns="0" bIns="0" anchor="t">
            <a:spAutoFit/>
          </a:bodyPr>
          <a:lstStyle/>
          <a:p>
            <a:pPr algn="l">
              <a:lnSpc>
                <a:spcPts val="2160"/>
              </a:lnSpc>
            </a:pPr>
            <a:r>
              <a:rPr b="0" sz="1350" i="0" u="none">
                <a:solidFill>
                  <a:srgbClr val="94A3B8"/>
                </a:solidFill>
                <a:latin typeface="Urbanist"/>
              </a:rPr>
              <a:t>Automated Join resolution.</a:t>
            </a:r>
          </a:p>
        </p:txBody>
      </p:sp>
      <p:sp>
        <p:nvSpPr>
          <p:cNvPr id="9" name="TextBox 8"/>
          <p:cNvSpPr txBox="1"/>
          <p:nvPr/>
        </p:nvSpPr>
        <p:spPr>
          <a:xfrm>
            <a:off x="923925" y="3891795"/>
            <a:ext cx="28575" cy="276225"/>
          </a:xfrm>
          <a:prstGeom prst="rect">
            <a:avLst/>
          </a:prstGeom>
          <a:noFill/>
        </p:spPr>
        <p:txBody>
          <a:bodyPr wrap="square" lIns="0" rIns="0" tIns="0" bIns="0" anchor="t">
            <a:spAutoFit/>
          </a:bodyPr>
          <a:lstStyle/>
          <a:p>
            <a:pPr algn="l"/>
            <a:r>
              <a:rPr b="0" sz="1350" i="0" u="none">
                <a:solidFill>
                  <a:srgbClr val="94A3B8"/>
                </a:solidFill>
                <a:latin typeface="Urbanist"/>
              </a:rPr>
              <a:t>•</a:t>
            </a:r>
          </a:p>
        </p:txBody>
      </p:sp>
      <p:sp>
        <p:nvSpPr>
          <p:cNvPr id="10" name="TextBox 9"/>
          <p:cNvSpPr txBox="1"/>
          <p:nvPr/>
        </p:nvSpPr>
        <p:spPr>
          <a:xfrm>
            <a:off x="952500" y="3892748"/>
            <a:ext cx="4857750" cy="274290"/>
          </a:xfrm>
          <a:prstGeom prst="rect">
            <a:avLst/>
          </a:prstGeom>
          <a:noFill/>
        </p:spPr>
        <p:txBody>
          <a:bodyPr wrap="square" lIns="28575" rIns="0" tIns="0" bIns="0" anchor="t">
            <a:spAutoFit/>
          </a:bodyPr>
          <a:lstStyle/>
          <a:p>
            <a:pPr algn="l">
              <a:lnSpc>
                <a:spcPts val="2160"/>
              </a:lnSpc>
            </a:pPr>
            <a:r>
              <a:rPr b="0" sz="1350" i="0" u="none">
                <a:solidFill>
                  <a:srgbClr val="94A3B8"/>
                </a:solidFill>
                <a:latin typeface="Urbanist"/>
              </a:rPr>
              <a:t>Read-only security constraints.</a:t>
            </a:r>
          </a:p>
        </p:txBody>
      </p:sp>
      <p:sp>
        <p:nvSpPr>
          <p:cNvPr id="11" name="TextBox 10"/>
          <p:cNvSpPr txBox="1"/>
          <p:nvPr/>
        </p:nvSpPr>
        <p:spPr>
          <a:xfrm>
            <a:off x="923925" y="4166086"/>
            <a:ext cx="28575" cy="276225"/>
          </a:xfrm>
          <a:prstGeom prst="rect">
            <a:avLst/>
          </a:prstGeom>
          <a:noFill/>
        </p:spPr>
        <p:txBody>
          <a:bodyPr wrap="square" lIns="0" rIns="0" tIns="0" bIns="0" anchor="t">
            <a:spAutoFit/>
          </a:bodyPr>
          <a:lstStyle/>
          <a:p>
            <a:pPr algn="l"/>
            <a:r>
              <a:rPr b="0" sz="1350" i="0" u="none">
                <a:solidFill>
                  <a:srgbClr val="94A3B8"/>
                </a:solidFill>
                <a:latin typeface="Urbanist"/>
              </a:rPr>
              <a:t>•</a:t>
            </a:r>
          </a:p>
        </p:txBody>
      </p:sp>
      <p:sp>
        <p:nvSpPr>
          <p:cNvPr id="12" name="TextBox 11"/>
          <p:cNvSpPr txBox="1"/>
          <p:nvPr/>
        </p:nvSpPr>
        <p:spPr>
          <a:xfrm>
            <a:off x="952500" y="4167038"/>
            <a:ext cx="4857750" cy="274290"/>
          </a:xfrm>
          <a:prstGeom prst="rect">
            <a:avLst/>
          </a:prstGeom>
          <a:noFill/>
        </p:spPr>
        <p:txBody>
          <a:bodyPr wrap="square" lIns="28575" rIns="0" tIns="0" bIns="0" anchor="t">
            <a:spAutoFit/>
          </a:bodyPr>
          <a:lstStyle/>
          <a:p>
            <a:pPr algn="l">
              <a:lnSpc>
                <a:spcPts val="2160"/>
              </a:lnSpc>
            </a:pPr>
            <a:r>
              <a:rPr b="0" sz="1350" i="0" u="none">
                <a:solidFill>
                  <a:srgbClr val="94A3B8"/>
                </a:solidFill>
                <a:latin typeface="Urbanist"/>
              </a:rPr>
              <a:t>Instant visualization of results.</a:t>
            </a:r>
          </a:p>
        </p:txBody>
      </p:sp>
      <p:sp>
        <p:nvSpPr>
          <p:cNvPr id="13" name="TextBox 12"/>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NATURAL LANGUAGE TO SQL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3033712"/>
            <a:ext cx="5238750" cy="1333500"/>
          </a:xfrm>
          <a:prstGeom prst="rect">
            <a:avLst/>
          </a:prstGeom>
          <a:noFill/>
        </p:spPr>
        <p:txBody>
          <a:bodyPr wrap="square" lIns="0" rIns="0" tIns="0" bIns="0" anchor="t">
            <a:spAutoFit/>
          </a:bodyPr>
          <a:lstStyle/>
          <a:p>
            <a:pPr algn="ctr">
              <a:lnSpc>
                <a:spcPts val="10500"/>
              </a:lnSpc>
            </a:pPr>
            <a:r>
              <a:rPr b="1" sz="10500" i="0" u="none">
                <a:solidFill>
                  <a:srgbClr val="38BDF8"/>
                </a:solidFill>
                <a:latin typeface="Urbanist"/>
              </a:rPr>
              <a:t>85%</a:t>
            </a:r>
          </a:p>
        </p:txBody>
      </p:sp>
      <p:sp>
        <p:nvSpPr>
          <p:cNvPr id="4" name="TextBox 3"/>
          <p:cNvSpPr txBox="1"/>
          <p:nvPr/>
        </p:nvSpPr>
        <p:spPr>
          <a:xfrm>
            <a:off x="571500" y="4367212"/>
            <a:ext cx="5238750" cy="323850"/>
          </a:xfrm>
          <a:prstGeom prst="rect">
            <a:avLst/>
          </a:prstGeom>
          <a:noFill/>
        </p:spPr>
        <p:txBody>
          <a:bodyPr wrap="square" lIns="0" rIns="0" tIns="0" bIns="0" anchor="t">
            <a:spAutoFit/>
          </a:bodyPr>
          <a:lstStyle/>
          <a:p>
            <a:pPr algn="ctr"/>
            <a:r>
              <a:rPr b="0" sz="2100" i="0" u="none">
                <a:solidFill>
                  <a:srgbClr val="F1F5F9"/>
                </a:solidFill>
                <a:latin typeface="Urbanist Medium"/>
              </a:rPr>
              <a:t>Reduction in Search Time</a:t>
            </a:r>
          </a:p>
        </p:txBody>
      </p:sp>
      <p:sp>
        <p:nvSpPr>
          <p:cNvPr id="5" name="TextBox 4"/>
          <p:cNvSpPr txBox="1"/>
          <p:nvPr/>
        </p:nvSpPr>
        <p:spPr>
          <a:xfrm>
            <a:off x="6381750" y="2970907"/>
            <a:ext cx="5500687" cy="323850"/>
          </a:xfrm>
          <a:prstGeom prst="rect">
            <a:avLst/>
          </a:prstGeom>
          <a:noFill/>
        </p:spPr>
        <p:txBody>
          <a:bodyPr wrap="square" lIns="0" rIns="0" tIns="0" bIns="0" anchor="t">
            <a:spAutoFit/>
          </a:bodyPr>
          <a:lstStyle/>
          <a:p>
            <a:pPr algn="l"/>
            <a:r>
              <a:rPr b="1" sz="2100" i="0" u="none">
                <a:solidFill>
                  <a:srgbClr val="F1F5F9"/>
                </a:solidFill>
                <a:latin typeface="Urbanist"/>
              </a:rPr>
              <a:t>Measured Enterprise Impact</a:t>
            </a:r>
          </a:p>
        </p:txBody>
      </p:sp>
      <p:sp>
        <p:nvSpPr>
          <p:cNvPr id="6" name="TextBox 5"/>
          <p:cNvSpPr txBox="1"/>
          <p:nvPr/>
        </p:nvSpPr>
        <p:spPr>
          <a:xfrm>
            <a:off x="6381750" y="3485257"/>
            <a:ext cx="5238750" cy="1097160"/>
          </a:xfrm>
          <a:prstGeom prst="rect">
            <a:avLst/>
          </a:prstGeom>
          <a:noFill/>
        </p:spPr>
        <p:txBody>
          <a:bodyPr wrap="square" lIns="0" rIns="0" tIns="0" bIns="0" anchor="t">
            <a:spAutoFit/>
          </a:bodyPr>
          <a:lstStyle/>
          <a:p>
            <a:pPr algn="l">
              <a:lnSpc>
                <a:spcPts val="2160"/>
              </a:lnSpc>
            </a:pPr>
            <a:r>
              <a:rPr b="0" sz="1350" i="0" u="none">
                <a:solidFill>
                  <a:srgbClr val="94A3B8"/>
                </a:solidFill>
                <a:latin typeface="Urbanist"/>
              </a:rPr>
              <a:t>By automating the retrieval process across structured and unstructured silos, we empower teams to make decisions in minutes rather than days. The system processes thousands of query requests per second with negligible latency.</a:t>
            </a:r>
          </a:p>
        </p:txBody>
      </p:sp>
      <p:sp>
        <p:nvSpPr>
          <p:cNvPr id="7" name="TextBox 6"/>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OPERATIONAL EXCELLENCE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36490"/>
            <a:ext cx="2547937" cy="2451645"/>
          </a:xfrm>
          <a:prstGeom prst="rect">
            <a:avLst/>
          </a:prstGeom>
        </p:spPr>
      </p:pic>
      <p:pic>
        <p:nvPicPr>
          <p:cNvPr id="4" name="Picture 3" descr="image.png"/>
          <p:cNvPicPr>
            <a:picLocks noChangeAspect="1"/>
          </p:cNvPicPr>
          <p:nvPr/>
        </p:nvPicPr>
        <p:blipFill>
          <a:blip r:embed="rId4"/>
          <a:stretch>
            <a:fillRect/>
          </a:stretch>
        </p:blipFill>
        <p:spPr>
          <a:xfrm>
            <a:off x="3405187" y="2636490"/>
            <a:ext cx="2547937" cy="2451645"/>
          </a:xfrm>
          <a:prstGeom prst="rect">
            <a:avLst/>
          </a:prstGeom>
        </p:spPr>
      </p:pic>
      <p:pic>
        <p:nvPicPr>
          <p:cNvPr id="5" name="Picture 4" descr="image.png"/>
          <p:cNvPicPr>
            <a:picLocks noChangeAspect="1"/>
          </p:cNvPicPr>
          <p:nvPr/>
        </p:nvPicPr>
        <p:blipFill>
          <a:blip r:embed="rId3"/>
          <a:stretch>
            <a:fillRect/>
          </a:stretch>
        </p:blipFill>
        <p:spPr>
          <a:xfrm>
            <a:off x="6238875" y="2636490"/>
            <a:ext cx="2547937" cy="2451645"/>
          </a:xfrm>
          <a:prstGeom prst="rect">
            <a:avLst/>
          </a:prstGeom>
        </p:spPr>
      </p:pic>
      <p:pic>
        <p:nvPicPr>
          <p:cNvPr id="6" name="Picture 5" descr="image.png"/>
          <p:cNvPicPr>
            <a:picLocks noChangeAspect="1"/>
          </p:cNvPicPr>
          <p:nvPr/>
        </p:nvPicPr>
        <p:blipFill>
          <a:blip r:embed="rId5"/>
          <a:stretch>
            <a:fillRect/>
          </a:stretch>
        </p:blipFill>
        <p:spPr>
          <a:xfrm>
            <a:off x="9072562" y="2636490"/>
            <a:ext cx="2547937" cy="2451645"/>
          </a:xfrm>
          <a:prstGeom prst="rect">
            <a:avLst/>
          </a:prstGeom>
        </p:spPr>
      </p:pic>
      <p:pic>
        <p:nvPicPr>
          <p:cNvPr id="7" name="Picture 6" descr="image.png"/>
          <p:cNvPicPr>
            <a:picLocks noChangeAspect="1"/>
          </p:cNvPicPr>
          <p:nvPr/>
        </p:nvPicPr>
        <p:blipFill>
          <a:blip r:embed="rId6"/>
          <a:stretch>
            <a:fillRect/>
          </a:stretch>
        </p:blipFill>
        <p:spPr>
          <a:xfrm>
            <a:off x="1721643" y="2979390"/>
            <a:ext cx="247650" cy="285750"/>
          </a:xfrm>
          <a:prstGeom prst="rect">
            <a:avLst/>
          </a:prstGeom>
        </p:spPr>
      </p:pic>
      <p:sp>
        <p:nvSpPr>
          <p:cNvPr id="8" name="TextBox 7"/>
          <p:cNvSpPr txBox="1"/>
          <p:nvPr/>
        </p:nvSpPr>
        <p:spPr>
          <a:xfrm>
            <a:off x="867846" y="3360390"/>
            <a:ext cx="1955244" cy="219075"/>
          </a:xfrm>
          <a:prstGeom prst="rect">
            <a:avLst/>
          </a:prstGeom>
          <a:noFill/>
        </p:spPr>
        <p:txBody>
          <a:bodyPr wrap="square" lIns="0" rIns="0" tIns="0" bIns="0" anchor="t">
            <a:spAutoFit/>
          </a:bodyPr>
          <a:lstStyle/>
          <a:p>
            <a:pPr algn="ctr"/>
            <a:r>
              <a:rPr b="1" sz="1404" i="0" u="none">
                <a:solidFill>
                  <a:srgbClr val="F8FAFC"/>
                </a:solidFill>
                <a:latin typeface="Urbanist"/>
              </a:rPr>
              <a:t>Streamlit</a:t>
            </a:r>
          </a:p>
        </p:txBody>
      </p:sp>
      <p:sp>
        <p:nvSpPr>
          <p:cNvPr id="9" name="TextBox 8"/>
          <p:cNvSpPr txBox="1"/>
          <p:nvPr/>
        </p:nvSpPr>
        <p:spPr>
          <a:xfrm>
            <a:off x="914400" y="3750915"/>
            <a:ext cx="1862137" cy="54858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Fast, interactive frontend deployment.</a:t>
            </a:r>
          </a:p>
        </p:txBody>
      </p:sp>
      <p:pic>
        <p:nvPicPr>
          <p:cNvPr id="10" name="Picture 9" descr="image.png"/>
          <p:cNvPicPr>
            <a:picLocks noChangeAspect="1"/>
          </p:cNvPicPr>
          <p:nvPr/>
        </p:nvPicPr>
        <p:blipFill>
          <a:blip r:embed="rId7"/>
          <a:stretch>
            <a:fillRect/>
          </a:stretch>
        </p:blipFill>
        <p:spPr>
          <a:xfrm>
            <a:off x="4498181" y="2979390"/>
            <a:ext cx="361950" cy="285750"/>
          </a:xfrm>
          <a:prstGeom prst="rect">
            <a:avLst/>
          </a:prstGeom>
        </p:spPr>
      </p:pic>
      <p:sp>
        <p:nvSpPr>
          <p:cNvPr id="11" name="TextBox 10"/>
          <p:cNvSpPr txBox="1"/>
          <p:nvPr/>
        </p:nvSpPr>
        <p:spPr>
          <a:xfrm>
            <a:off x="3701534" y="3360390"/>
            <a:ext cx="1955244" cy="219075"/>
          </a:xfrm>
          <a:prstGeom prst="rect">
            <a:avLst/>
          </a:prstGeom>
          <a:noFill/>
        </p:spPr>
        <p:txBody>
          <a:bodyPr wrap="square" lIns="0" rIns="0" tIns="0" bIns="0" anchor="t">
            <a:spAutoFit/>
          </a:bodyPr>
          <a:lstStyle/>
          <a:p>
            <a:pPr algn="ctr"/>
            <a:r>
              <a:rPr b="1" sz="1404" i="0" u="none">
                <a:solidFill>
                  <a:srgbClr val="F8FAFC"/>
                </a:solidFill>
                <a:latin typeface="Urbanist"/>
              </a:rPr>
              <a:t>LangChain</a:t>
            </a:r>
          </a:p>
        </p:txBody>
      </p:sp>
      <p:sp>
        <p:nvSpPr>
          <p:cNvPr id="12" name="TextBox 11"/>
          <p:cNvSpPr txBox="1"/>
          <p:nvPr/>
        </p:nvSpPr>
        <p:spPr>
          <a:xfrm>
            <a:off x="3748087" y="3750915"/>
            <a:ext cx="1862137" cy="82287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Robust LLM orchestration and agents.</a:t>
            </a:r>
          </a:p>
        </p:txBody>
      </p:sp>
      <p:pic>
        <p:nvPicPr>
          <p:cNvPr id="13" name="Picture 12" descr="image.png"/>
          <p:cNvPicPr>
            <a:picLocks noChangeAspect="1"/>
          </p:cNvPicPr>
          <p:nvPr/>
        </p:nvPicPr>
        <p:blipFill>
          <a:blip r:embed="rId8"/>
          <a:stretch>
            <a:fillRect/>
          </a:stretch>
        </p:blipFill>
        <p:spPr>
          <a:xfrm>
            <a:off x="7369968" y="2979390"/>
            <a:ext cx="285750" cy="285750"/>
          </a:xfrm>
          <a:prstGeom prst="rect">
            <a:avLst/>
          </a:prstGeom>
        </p:spPr>
      </p:pic>
      <p:sp>
        <p:nvSpPr>
          <p:cNvPr id="14" name="TextBox 13"/>
          <p:cNvSpPr txBox="1"/>
          <p:nvPr/>
        </p:nvSpPr>
        <p:spPr>
          <a:xfrm>
            <a:off x="6535221" y="3360390"/>
            <a:ext cx="1955244" cy="219075"/>
          </a:xfrm>
          <a:prstGeom prst="rect">
            <a:avLst/>
          </a:prstGeom>
          <a:noFill/>
        </p:spPr>
        <p:txBody>
          <a:bodyPr wrap="square" lIns="0" rIns="0" tIns="0" bIns="0" anchor="t">
            <a:spAutoFit/>
          </a:bodyPr>
          <a:lstStyle/>
          <a:p>
            <a:pPr algn="ctr"/>
            <a:r>
              <a:rPr b="1" sz="1404" i="0" u="none">
                <a:solidFill>
                  <a:srgbClr val="F8FAFC"/>
                </a:solidFill>
                <a:latin typeface="Urbanist"/>
              </a:rPr>
              <a:t>OpenAI</a:t>
            </a:r>
          </a:p>
        </p:txBody>
      </p:sp>
      <p:sp>
        <p:nvSpPr>
          <p:cNvPr id="15" name="TextBox 14"/>
          <p:cNvSpPr txBox="1"/>
          <p:nvPr/>
        </p:nvSpPr>
        <p:spPr>
          <a:xfrm>
            <a:off x="6581775" y="3750915"/>
            <a:ext cx="1862137" cy="54858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State-of-the-art inference engines.</a:t>
            </a:r>
          </a:p>
        </p:txBody>
      </p:sp>
      <p:pic>
        <p:nvPicPr>
          <p:cNvPr id="16" name="Picture 15" descr="image.png"/>
          <p:cNvPicPr>
            <a:picLocks noChangeAspect="1"/>
          </p:cNvPicPr>
          <p:nvPr/>
        </p:nvPicPr>
        <p:blipFill>
          <a:blip r:embed="rId9"/>
          <a:stretch>
            <a:fillRect/>
          </a:stretch>
        </p:blipFill>
        <p:spPr>
          <a:xfrm>
            <a:off x="10203656" y="2979390"/>
            <a:ext cx="285750" cy="285750"/>
          </a:xfrm>
          <a:prstGeom prst="rect">
            <a:avLst/>
          </a:prstGeom>
        </p:spPr>
      </p:pic>
      <p:sp>
        <p:nvSpPr>
          <p:cNvPr id="17" name="TextBox 16"/>
          <p:cNvSpPr txBox="1"/>
          <p:nvPr/>
        </p:nvSpPr>
        <p:spPr>
          <a:xfrm>
            <a:off x="9368909" y="3360390"/>
            <a:ext cx="1955244" cy="219075"/>
          </a:xfrm>
          <a:prstGeom prst="rect">
            <a:avLst/>
          </a:prstGeom>
          <a:noFill/>
        </p:spPr>
        <p:txBody>
          <a:bodyPr wrap="square" lIns="0" rIns="0" tIns="0" bIns="0" anchor="t">
            <a:spAutoFit/>
          </a:bodyPr>
          <a:lstStyle/>
          <a:p>
            <a:pPr algn="ctr"/>
            <a:r>
              <a:rPr b="1" sz="1404" i="0" u="none">
                <a:solidFill>
                  <a:srgbClr val="F8FAFC"/>
                </a:solidFill>
                <a:latin typeface="Urbanist"/>
              </a:rPr>
              <a:t>FAISS</a:t>
            </a:r>
          </a:p>
        </p:txBody>
      </p:sp>
      <p:sp>
        <p:nvSpPr>
          <p:cNvPr id="18" name="TextBox 17"/>
          <p:cNvSpPr txBox="1"/>
          <p:nvPr/>
        </p:nvSpPr>
        <p:spPr>
          <a:xfrm>
            <a:off x="9415462" y="3750915"/>
            <a:ext cx="1862137" cy="548580"/>
          </a:xfrm>
          <a:prstGeom prst="rect">
            <a:avLst/>
          </a:prstGeom>
          <a:noFill/>
        </p:spPr>
        <p:txBody>
          <a:bodyPr wrap="square" lIns="0" rIns="0" tIns="0" bIns="0" anchor="t">
            <a:spAutoFit/>
          </a:bodyPr>
          <a:lstStyle/>
          <a:p>
            <a:pPr algn="ctr">
              <a:lnSpc>
                <a:spcPts val="2160"/>
              </a:lnSpc>
            </a:pPr>
            <a:r>
              <a:rPr b="0" sz="1350" i="0" u="none">
                <a:solidFill>
                  <a:srgbClr val="94A3B8"/>
                </a:solidFill>
                <a:latin typeface="Urbanist"/>
              </a:rPr>
              <a:t>High-speed vector similarity search.</a:t>
            </a:r>
          </a:p>
        </p:txBody>
      </p:sp>
      <p:sp>
        <p:nvSpPr>
          <p:cNvPr id="19" name="TextBox 18"/>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MODERN TECHNOLOGY STACK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0" y="0"/>
            <a:ext cx="12192000" cy="6858000"/>
          </a:xfrm>
          <a:prstGeom prst="rect">
            <a:avLst/>
          </a:prstGeom>
        </p:spPr>
      </p:pic>
      <p:sp>
        <p:nvSpPr>
          <p:cNvPr id="4" name="TextBox 3"/>
          <p:cNvSpPr txBox="1"/>
          <p:nvPr/>
        </p:nvSpPr>
        <p:spPr>
          <a:xfrm>
            <a:off x="2095500" y="2720429"/>
            <a:ext cx="8001000" cy="685800"/>
          </a:xfrm>
          <a:prstGeom prst="rect">
            <a:avLst/>
          </a:prstGeom>
          <a:noFill/>
        </p:spPr>
        <p:txBody>
          <a:bodyPr wrap="square" lIns="0" rIns="0" tIns="0" bIns="0" anchor="t">
            <a:spAutoFit/>
          </a:bodyPr>
          <a:lstStyle/>
          <a:p>
            <a:pPr algn="ctr"/>
            <a:r>
              <a:rPr b="1" sz="4500" i="0" u="none">
                <a:solidFill>
                  <a:srgbClr val="F8FAFC"/>
                </a:solidFill>
                <a:latin typeface="Urbanist"/>
              </a:rPr>
              <a:t>The Future of Intelligence</a:t>
            </a:r>
          </a:p>
        </p:txBody>
      </p:sp>
      <p:sp>
        <p:nvSpPr>
          <p:cNvPr id="5" name="TextBox 4"/>
          <p:cNvSpPr txBox="1"/>
          <p:nvPr/>
        </p:nvSpPr>
        <p:spPr>
          <a:xfrm>
            <a:off x="2286000" y="3406229"/>
            <a:ext cx="7620000" cy="731341"/>
          </a:xfrm>
          <a:prstGeom prst="rect">
            <a:avLst/>
          </a:prstGeom>
          <a:noFill/>
        </p:spPr>
        <p:txBody>
          <a:bodyPr wrap="square" lIns="0" rIns="0" tIns="0" bIns="0" anchor="t">
            <a:spAutoFit/>
          </a:bodyPr>
          <a:lstStyle/>
          <a:p>
            <a:pPr algn="ctr">
              <a:lnSpc>
                <a:spcPts val="2879"/>
              </a:lnSpc>
            </a:pPr>
            <a:r>
              <a:rPr b="0" sz="1800" i="0" u="none">
                <a:solidFill>
                  <a:srgbClr val="F1F5F9"/>
                </a:solidFill>
                <a:latin typeface="Urbanist"/>
              </a:rPr>
              <a:t>Expanding to Multi-Modal agents and Enterprise SSO integration for global scale.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690574" y="2426047"/>
            <a:ext cx="6810851" cy="754260"/>
          </a:xfrm>
          <a:prstGeom prst="rect">
            <a:avLst/>
          </a:prstGeom>
          <a:noFill/>
        </p:spPr>
        <p:txBody>
          <a:bodyPr wrap="square" lIns="0" rIns="0" tIns="0" bIns="0" anchor="t">
            <a:spAutoFit/>
          </a:bodyPr>
          <a:lstStyle/>
          <a:p>
            <a:pPr algn="ctr">
              <a:lnSpc>
                <a:spcPts val="5940"/>
              </a:lnSpc>
            </a:pPr>
            <a:r>
              <a:rPr b="1" sz="5400" i="0" u="none">
                <a:solidFill>
                  <a:srgbClr val="F8FAFC"/>
                </a:solidFill>
                <a:latin typeface="Urbanist"/>
              </a:rPr>
              <a:t>Questions &amp; </a:t>
            </a:r>
            <a:r>
              <a:rPr b="1" sz="5400" i="0" u="none">
                <a:solidFill>
                  <a:srgbClr val="38BDF8"/>
                </a:solidFill>
                <a:latin typeface="Urbanist"/>
              </a:rPr>
              <a:t>Discussion</a:t>
            </a:r>
          </a:p>
        </p:txBody>
      </p:sp>
      <p:sp>
        <p:nvSpPr>
          <p:cNvPr id="4" name="TextBox 3"/>
          <p:cNvSpPr txBox="1"/>
          <p:nvPr/>
        </p:nvSpPr>
        <p:spPr>
          <a:xfrm>
            <a:off x="2852737" y="3370808"/>
            <a:ext cx="6486525" cy="365670"/>
          </a:xfrm>
          <a:prstGeom prst="rect">
            <a:avLst/>
          </a:prstGeom>
          <a:noFill/>
        </p:spPr>
        <p:txBody>
          <a:bodyPr wrap="square" lIns="0" rIns="0" tIns="0" bIns="0" anchor="t">
            <a:spAutoFit/>
          </a:bodyPr>
          <a:lstStyle/>
          <a:p>
            <a:pPr algn="ctr">
              <a:lnSpc>
                <a:spcPts val="2879"/>
              </a:lnSpc>
            </a:pPr>
            <a:r>
              <a:rPr b="0" sz="1800" i="0" u="none">
                <a:solidFill>
                  <a:srgbClr val="64748B"/>
                </a:solidFill>
                <a:latin typeface="Urbanist"/>
              </a:rPr>
              <a:t>Thank you for your attention.</a:t>
            </a:r>
          </a:p>
        </p:txBody>
      </p:sp>
      <p:sp>
        <p:nvSpPr>
          <p:cNvPr id="5" name="TextBox 4"/>
          <p:cNvSpPr txBox="1"/>
          <p:nvPr/>
        </p:nvSpPr>
        <p:spPr>
          <a:xfrm>
            <a:off x="2852737" y="4212728"/>
            <a:ext cx="6486525" cy="219075"/>
          </a:xfrm>
          <a:prstGeom prst="rect">
            <a:avLst/>
          </a:prstGeom>
          <a:noFill/>
        </p:spPr>
        <p:txBody>
          <a:bodyPr wrap="square" lIns="0" rIns="0" tIns="0" bIns="0" anchor="t">
            <a:spAutoFit/>
          </a:bodyPr>
          <a:lstStyle/>
          <a:p>
            <a:pPr algn="ctr"/>
            <a:r>
              <a:rPr b="0" sz="1350" i="0" u="none">
                <a:solidFill>
                  <a:srgbClr val="38BDF8"/>
                </a:solidFill>
                <a:latin typeface="JetBrains Mono"/>
              </a:rPr>
              <a:t>AI-POWERED ENTERPRISE ASSISTANT | AUGUST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20617"/>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1806178"/>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2590948"/>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375719"/>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4160490"/>
            <a:ext cx="11049000" cy="9828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25814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2581423"/>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3366194"/>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 y="3366194"/>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415096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1500" y="4150965"/>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1500" y="5133826"/>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1500" y="5133826"/>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3"/>
          <a:stretch>
            <a:fillRect/>
          </a:stretch>
        </p:blipFill>
        <p:spPr>
          <a:xfrm>
            <a:off x="571500" y="1955601"/>
            <a:ext cx="857250" cy="476250"/>
          </a:xfrm>
          <a:prstGeom prst="rect">
            <a:avLst/>
          </a:prstGeom>
        </p:spPr>
      </p:pic>
      <p:sp>
        <p:nvSpPr>
          <p:cNvPr id="16" name="TextBox 15"/>
          <p:cNvSpPr txBox="1"/>
          <p:nvPr/>
        </p:nvSpPr>
        <p:spPr>
          <a:xfrm>
            <a:off x="1666875" y="1949053"/>
            <a:ext cx="9953625" cy="198090"/>
          </a:xfrm>
          <a:prstGeom prst="rect">
            <a:avLst/>
          </a:prstGeom>
          <a:noFill/>
        </p:spPr>
        <p:txBody>
          <a:bodyPr wrap="square" lIns="0" rIns="0" tIns="0" bIns="0" anchor="t">
            <a:spAutoFit/>
          </a:bodyPr>
          <a:lstStyle/>
          <a:p>
            <a:pPr algn="l">
              <a:lnSpc>
                <a:spcPts val="1560"/>
              </a:lnSpc>
            </a:pPr>
            <a:r>
              <a:rPr b="0" sz="975" i="0" u="none">
                <a:solidFill>
                  <a:srgbClr val="94A3B8"/>
                </a:solidFill>
                <a:latin typeface="Urbanist"/>
              </a:rPr>
              <a:t>https://lookaside.fbsbx.com/lookaside/crawler/media/?media_id=1357646676547626</a:t>
            </a:r>
          </a:p>
        </p:txBody>
      </p:sp>
      <p:sp>
        <p:nvSpPr>
          <p:cNvPr id="17" name="TextBox 16"/>
          <p:cNvSpPr txBox="1"/>
          <p:nvPr/>
        </p:nvSpPr>
        <p:spPr>
          <a:xfrm>
            <a:off x="1666875" y="2194768"/>
            <a:ext cx="9953625" cy="243780"/>
          </a:xfrm>
          <a:prstGeom prst="rect">
            <a:avLst/>
          </a:prstGeom>
          <a:noFill/>
        </p:spPr>
        <p:txBody>
          <a:bodyPr wrap="square" lIns="0" rIns="0" tIns="0" bIns="0" anchor="t">
            <a:spAutoFit/>
          </a:bodyPr>
          <a:lstStyle/>
          <a:p>
            <a:pPr algn="l">
              <a:lnSpc>
                <a:spcPts val="1920"/>
              </a:lnSpc>
            </a:pPr>
            <a:r>
              <a:rPr b="0" sz="1200" i="0" u="none">
                <a:solidFill>
                  <a:srgbClr val="94A3B8"/>
                </a:solidFill>
                <a:latin typeface="Urbanist"/>
              </a:rPr>
              <a:t>Source: </a:t>
            </a:r>
            <a:r>
              <a:rPr b="0" sz="1200" i="0" u="none">
                <a:solidFill>
                  <a:srgbClr val="4F46E5"/>
                </a:solidFill>
                <a:latin typeface="Urbanist"/>
              </a:rPr>
              <a:t>www.facebook.com</a:t>
            </a:r>
          </a:p>
        </p:txBody>
      </p:sp>
      <p:pic>
        <p:nvPicPr>
          <p:cNvPr id="18" name="Picture 17" descr="image.png"/>
          <p:cNvPicPr>
            <a:picLocks noChangeAspect="1"/>
          </p:cNvPicPr>
          <p:nvPr/>
        </p:nvPicPr>
        <p:blipFill>
          <a:blip r:embed="rId4"/>
          <a:stretch>
            <a:fillRect/>
          </a:stretch>
        </p:blipFill>
        <p:spPr>
          <a:xfrm>
            <a:off x="571500" y="2740372"/>
            <a:ext cx="857250" cy="476250"/>
          </a:xfrm>
          <a:prstGeom prst="rect">
            <a:avLst/>
          </a:prstGeom>
        </p:spPr>
      </p:pic>
      <p:sp>
        <p:nvSpPr>
          <p:cNvPr id="19" name="TextBox 18"/>
          <p:cNvSpPr txBox="1"/>
          <p:nvPr/>
        </p:nvSpPr>
        <p:spPr>
          <a:xfrm>
            <a:off x="1666875" y="2733823"/>
            <a:ext cx="9953625" cy="198090"/>
          </a:xfrm>
          <a:prstGeom prst="rect">
            <a:avLst/>
          </a:prstGeom>
          <a:noFill/>
        </p:spPr>
        <p:txBody>
          <a:bodyPr wrap="square" lIns="0" rIns="0" tIns="0" bIns="0" anchor="t">
            <a:spAutoFit/>
          </a:bodyPr>
          <a:lstStyle/>
          <a:p>
            <a:pPr algn="l">
              <a:lnSpc>
                <a:spcPts val="1560"/>
              </a:lnSpc>
            </a:pPr>
            <a:r>
              <a:rPr b="0" sz="975" i="0" u="none">
                <a:solidFill>
                  <a:srgbClr val="94A3B8"/>
                </a:solidFill>
                <a:latin typeface="Urbanist"/>
              </a:rPr>
              <a:t>https://www.sparkouttech.com/amp/img/architecture-ai-agent-blog/ai-agent-works-with-modern-architectural-workflows.webp</a:t>
            </a:r>
          </a:p>
        </p:txBody>
      </p:sp>
      <p:sp>
        <p:nvSpPr>
          <p:cNvPr id="20" name="TextBox 19"/>
          <p:cNvSpPr txBox="1"/>
          <p:nvPr/>
        </p:nvSpPr>
        <p:spPr>
          <a:xfrm>
            <a:off x="1666875" y="2979539"/>
            <a:ext cx="9953625" cy="243780"/>
          </a:xfrm>
          <a:prstGeom prst="rect">
            <a:avLst/>
          </a:prstGeom>
          <a:noFill/>
        </p:spPr>
        <p:txBody>
          <a:bodyPr wrap="square" lIns="0" rIns="0" tIns="0" bIns="0" anchor="t">
            <a:spAutoFit/>
          </a:bodyPr>
          <a:lstStyle/>
          <a:p>
            <a:pPr algn="l">
              <a:lnSpc>
                <a:spcPts val="1920"/>
              </a:lnSpc>
            </a:pPr>
            <a:r>
              <a:rPr b="0" sz="1200" i="0" u="none">
                <a:solidFill>
                  <a:srgbClr val="94A3B8"/>
                </a:solidFill>
                <a:latin typeface="Urbanist"/>
              </a:rPr>
              <a:t>Source: </a:t>
            </a:r>
            <a:r>
              <a:rPr b="0" sz="1200" i="0" u="none">
                <a:solidFill>
                  <a:srgbClr val="4F46E5"/>
                </a:solidFill>
                <a:latin typeface="Urbanist"/>
              </a:rPr>
              <a:t>www.sparkouttech.com</a:t>
            </a:r>
          </a:p>
        </p:txBody>
      </p:sp>
      <p:pic>
        <p:nvPicPr>
          <p:cNvPr id="21" name="Picture 20" descr="image.png"/>
          <p:cNvPicPr>
            <a:picLocks noChangeAspect="1"/>
          </p:cNvPicPr>
          <p:nvPr/>
        </p:nvPicPr>
        <p:blipFill>
          <a:blip r:embed="rId5"/>
          <a:stretch>
            <a:fillRect/>
          </a:stretch>
        </p:blipFill>
        <p:spPr>
          <a:xfrm>
            <a:off x="571500" y="3525142"/>
            <a:ext cx="857250" cy="476250"/>
          </a:xfrm>
          <a:prstGeom prst="rect">
            <a:avLst/>
          </a:prstGeom>
        </p:spPr>
      </p:pic>
      <p:sp>
        <p:nvSpPr>
          <p:cNvPr id="22" name="TextBox 21"/>
          <p:cNvSpPr txBox="1"/>
          <p:nvPr/>
        </p:nvSpPr>
        <p:spPr>
          <a:xfrm>
            <a:off x="1666875" y="3518594"/>
            <a:ext cx="9953625" cy="198090"/>
          </a:xfrm>
          <a:prstGeom prst="rect">
            <a:avLst/>
          </a:prstGeom>
          <a:noFill/>
        </p:spPr>
        <p:txBody>
          <a:bodyPr wrap="square" lIns="0" rIns="0" tIns="0" bIns="0" anchor="t">
            <a:spAutoFit/>
          </a:bodyPr>
          <a:lstStyle/>
          <a:p>
            <a:pPr algn="l">
              <a:lnSpc>
                <a:spcPts val="1560"/>
              </a:lnSpc>
            </a:pPr>
            <a:r>
              <a:rPr b="0" sz="975" i="0" u="none">
                <a:solidFill>
                  <a:srgbClr val="94A3B8"/>
                </a:solidFill>
                <a:latin typeface="Urbanist"/>
              </a:rPr>
              <a:t>https://miro.medium.com/1*C1sOu3U3R8o8Hmar_28Cmg.png</a:t>
            </a:r>
          </a:p>
        </p:txBody>
      </p:sp>
      <p:sp>
        <p:nvSpPr>
          <p:cNvPr id="23" name="TextBox 22"/>
          <p:cNvSpPr txBox="1"/>
          <p:nvPr/>
        </p:nvSpPr>
        <p:spPr>
          <a:xfrm>
            <a:off x="1666875" y="3764309"/>
            <a:ext cx="9953625" cy="243780"/>
          </a:xfrm>
          <a:prstGeom prst="rect">
            <a:avLst/>
          </a:prstGeom>
          <a:noFill/>
        </p:spPr>
        <p:txBody>
          <a:bodyPr wrap="square" lIns="0" rIns="0" tIns="0" bIns="0" anchor="t">
            <a:spAutoFit/>
          </a:bodyPr>
          <a:lstStyle/>
          <a:p>
            <a:pPr algn="l">
              <a:lnSpc>
                <a:spcPts val="1920"/>
              </a:lnSpc>
            </a:pPr>
            <a:r>
              <a:rPr b="0" sz="1200" i="0" u="none">
                <a:solidFill>
                  <a:srgbClr val="94A3B8"/>
                </a:solidFill>
                <a:latin typeface="Urbanist"/>
              </a:rPr>
              <a:t>Source: </a:t>
            </a:r>
            <a:r>
              <a:rPr b="0" sz="1200" i="0" u="none">
                <a:solidFill>
                  <a:srgbClr val="4F46E5"/>
                </a:solidFill>
                <a:latin typeface="Urbanist"/>
              </a:rPr>
              <a:t>medium.com</a:t>
            </a:r>
          </a:p>
        </p:txBody>
      </p:sp>
      <p:pic>
        <p:nvPicPr>
          <p:cNvPr id="24" name="Picture 23" descr="image.png"/>
          <p:cNvPicPr>
            <a:picLocks noChangeAspect="1"/>
          </p:cNvPicPr>
          <p:nvPr/>
        </p:nvPicPr>
        <p:blipFill>
          <a:blip r:embed="rId6"/>
          <a:stretch>
            <a:fillRect/>
          </a:stretch>
        </p:blipFill>
        <p:spPr>
          <a:xfrm>
            <a:off x="571500" y="4409033"/>
            <a:ext cx="857250" cy="476250"/>
          </a:xfrm>
          <a:prstGeom prst="rect">
            <a:avLst/>
          </a:prstGeom>
        </p:spPr>
      </p:pic>
      <p:sp>
        <p:nvSpPr>
          <p:cNvPr id="25" name="TextBox 24"/>
          <p:cNvSpPr txBox="1"/>
          <p:nvPr/>
        </p:nvSpPr>
        <p:spPr>
          <a:xfrm>
            <a:off x="1666875" y="4303365"/>
            <a:ext cx="9953625" cy="396180"/>
          </a:xfrm>
          <a:prstGeom prst="rect">
            <a:avLst/>
          </a:prstGeom>
          <a:noFill/>
        </p:spPr>
        <p:txBody>
          <a:bodyPr wrap="square" lIns="0" rIns="0" tIns="0" bIns="0" anchor="t">
            <a:spAutoFit/>
          </a:bodyPr>
          <a:lstStyle/>
          <a:p>
            <a:pPr algn="l">
              <a:lnSpc>
                <a:spcPts val="1560"/>
              </a:lnSpc>
            </a:pPr>
            <a:r>
              <a:rPr b="0" sz="975" i="0" u="none">
                <a:solidFill>
                  <a:srgbClr val="94A3B8"/>
                </a:solidFill>
                <a:latin typeface="Urbanist"/>
              </a:rPr>
              <a:t>https://static.vecteezy.com/system/resources/previews/075/389/938/non_2x/abstract-dark-blue-technology-background-with-sharp-glowing-light-streaks-for-cyber-security-concept-futuristic-data-network-wallpaper-and-high-tech-digital-presentation-design-vector.jpg</a:t>
            </a:r>
          </a:p>
        </p:txBody>
      </p:sp>
      <p:sp>
        <p:nvSpPr>
          <p:cNvPr id="26" name="TextBox 25"/>
          <p:cNvSpPr txBox="1"/>
          <p:nvPr/>
        </p:nvSpPr>
        <p:spPr>
          <a:xfrm>
            <a:off x="1666875" y="4747170"/>
            <a:ext cx="9953625" cy="243780"/>
          </a:xfrm>
          <a:prstGeom prst="rect">
            <a:avLst/>
          </a:prstGeom>
          <a:noFill/>
        </p:spPr>
        <p:txBody>
          <a:bodyPr wrap="square" lIns="0" rIns="0" tIns="0" bIns="0" anchor="t">
            <a:spAutoFit/>
          </a:bodyPr>
          <a:lstStyle/>
          <a:p>
            <a:pPr algn="l">
              <a:lnSpc>
                <a:spcPts val="1920"/>
              </a:lnSpc>
            </a:pPr>
            <a:r>
              <a:rPr b="0" sz="1200" i="0" u="none">
                <a:solidFill>
                  <a:srgbClr val="94A3B8"/>
                </a:solidFill>
                <a:latin typeface="Urbanist"/>
              </a:rPr>
              <a:t>Source: </a:t>
            </a:r>
            <a:r>
              <a:rPr b="0" sz="1200" i="0" u="none">
                <a:solidFill>
                  <a:srgbClr val="4F46E5"/>
                </a:solidFill>
                <a:latin typeface="Urbanist"/>
              </a:rPr>
              <a:t>www.vecteezy.com</a:t>
            </a:r>
          </a:p>
        </p:txBody>
      </p:sp>
      <p:pic>
        <p:nvPicPr>
          <p:cNvPr id="27" name="Picture 26" descr="image.png"/>
          <p:cNvPicPr>
            <a:picLocks noChangeAspect="1"/>
          </p:cNvPicPr>
          <p:nvPr/>
        </p:nvPicPr>
        <p:blipFill>
          <a:blip r:embed="rId7"/>
          <a:stretch>
            <a:fillRect/>
          </a:stretch>
        </p:blipFill>
        <p:spPr>
          <a:xfrm>
            <a:off x="571500" y="5292774"/>
            <a:ext cx="857250" cy="476250"/>
          </a:xfrm>
          <a:prstGeom prst="rect">
            <a:avLst/>
          </a:prstGeom>
        </p:spPr>
      </p:pic>
      <p:sp>
        <p:nvSpPr>
          <p:cNvPr id="28" name="TextBox 27"/>
          <p:cNvSpPr txBox="1"/>
          <p:nvPr/>
        </p:nvSpPr>
        <p:spPr>
          <a:xfrm>
            <a:off x="1666875" y="5286226"/>
            <a:ext cx="9953625" cy="198090"/>
          </a:xfrm>
          <a:prstGeom prst="rect">
            <a:avLst/>
          </a:prstGeom>
          <a:noFill/>
        </p:spPr>
        <p:txBody>
          <a:bodyPr wrap="square" lIns="0" rIns="0" tIns="0" bIns="0" anchor="t">
            <a:spAutoFit/>
          </a:bodyPr>
          <a:lstStyle/>
          <a:p>
            <a:pPr algn="l">
              <a:lnSpc>
                <a:spcPts val="1560"/>
              </a:lnSpc>
            </a:pPr>
            <a:r>
              <a:rPr b="0" sz="975" i="0" u="none">
                <a:solidFill>
                  <a:srgbClr val="94A3B8"/>
                </a:solidFill>
                <a:latin typeface="Urbanist"/>
              </a:rPr>
              <a:t>https://images.stockcake.com/public/f/e/0/fe02229c-fff4-479c-99df-98e98382540a_large/futuristic-office-management-stockcake.jpg</a:t>
            </a:r>
          </a:p>
        </p:txBody>
      </p:sp>
      <p:sp>
        <p:nvSpPr>
          <p:cNvPr id="29" name="TextBox 28"/>
          <p:cNvSpPr txBox="1"/>
          <p:nvPr/>
        </p:nvSpPr>
        <p:spPr>
          <a:xfrm>
            <a:off x="1666875" y="5531941"/>
            <a:ext cx="9953625" cy="243780"/>
          </a:xfrm>
          <a:prstGeom prst="rect">
            <a:avLst/>
          </a:prstGeom>
          <a:noFill/>
        </p:spPr>
        <p:txBody>
          <a:bodyPr wrap="square" lIns="0" rIns="0" tIns="0" bIns="0" anchor="t">
            <a:spAutoFit/>
          </a:bodyPr>
          <a:lstStyle/>
          <a:p>
            <a:pPr algn="l">
              <a:lnSpc>
                <a:spcPts val="1920"/>
              </a:lnSpc>
            </a:pPr>
            <a:r>
              <a:rPr b="0" sz="1200" i="0" u="none">
                <a:solidFill>
                  <a:srgbClr val="94A3B8"/>
                </a:solidFill>
                <a:latin typeface="Urbanist"/>
              </a:rPr>
              <a:t>Source: </a:t>
            </a:r>
            <a:r>
              <a:rPr b="0" sz="1200" i="0" u="none">
                <a:solidFill>
                  <a:srgbClr val="4F46E5"/>
                </a:solidFill>
                <a:latin typeface="Urbanist"/>
              </a:rPr>
              <a:t>stockcake.com</a:t>
            </a:r>
          </a:p>
        </p:txBody>
      </p:sp>
      <p:sp>
        <p:nvSpPr>
          <p:cNvPr id="30" name="TextBox 29"/>
          <p:cNvSpPr txBox="1"/>
          <p:nvPr/>
        </p:nvSpPr>
        <p:spPr>
          <a:xfrm>
            <a:off x="571500" y="571500"/>
            <a:ext cx="11601450" cy="485775"/>
          </a:xfrm>
          <a:prstGeom prst="rect">
            <a:avLst/>
          </a:prstGeom>
          <a:noFill/>
        </p:spPr>
        <p:txBody>
          <a:bodyPr wrap="square" lIns="0" rIns="0" tIns="0" bIns="0" anchor="t">
            <a:spAutoFit/>
          </a:bodyPr>
          <a:lstStyle/>
          <a:p>
            <a:pPr algn="l"/>
            <a:r>
              <a:rPr b="0" sz="3150" i="0" u="none">
                <a:solidFill>
                  <a:srgbClr val="38BDF8"/>
                </a:solidFill>
                <a:latin typeface="Urbanist Medium"/>
              </a:rPr>
              <a:t>IMAGE SOURCES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